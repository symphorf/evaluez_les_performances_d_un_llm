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eue Machina Ultra-Bold" charset="1" panose="000009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Open Sans" charset="1" panose="020B0606030504020204"/>
      <p:regular r:id="rId17"/>
    </p:embeddedFont>
    <p:embeddedFont>
      <p:font typeface="Akzidenz-Grotesk" charset="1" panose="02000503030000020003"/>
      <p:regular r:id="rId18"/>
    </p:embeddedFont>
    <p:embeddedFont>
      <p:font typeface="Open Sans Italics" charset="1" panose="020B0606030504020204"/>
      <p:regular r:id="rId19"/>
    </p:embeddedFont>
    <p:embeddedFont>
      <p:font typeface="Agrandir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gif" Type="http://schemas.openxmlformats.org/officeDocument/2006/relationships/image"/><Relationship Id="rId3" Target="../media/image14.gif" Type="http://schemas.openxmlformats.org/officeDocument/2006/relationships/image"/><Relationship Id="rId4" Target="../media/image15.gif" Type="http://schemas.openxmlformats.org/officeDocument/2006/relationships/image"/><Relationship Id="rId5" Target="../media/image16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60485">
            <a:off x="12762198" y="4130102"/>
            <a:ext cx="6728545" cy="6403217"/>
          </a:xfrm>
          <a:custGeom>
            <a:avLst/>
            <a:gdLst/>
            <a:ahLst/>
            <a:cxnLst/>
            <a:rect r="r" b="b" t="t" l="l"/>
            <a:pathLst>
              <a:path h="6403217" w="6728545">
                <a:moveTo>
                  <a:pt x="0" y="0"/>
                </a:moveTo>
                <a:lnTo>
                  <a:pt x="6728545" y="0"/>
                </a:lnTo>
                <a:lnTo>
                  <a:pt x="6728545" y="6403217"/>
                </a:lnTo>
                <a:lnTo>
                  <a:pt x="0" y="640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88" y="0"/>
            <a:ext cx="5349535" cy="10287000"/>
            <a:chOff x="0" y="0"/>
            <a:chExt cx="1016958" cy="19555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958" cy="1955581"/>
            </a:xfrm>
            <a:custGeom>
              <a:avLst/>
              <a:gdLst/>
              <a:ahLst/>
              <a:cxnLst/>
              <a:rect r="r" b="b" t="t" l="l"/>
              <a:pathLst>
                <a:path h="1955581" w="1016958">
                  <a:moveTo>
                    <a:pt x="0" y="0"/>
                  </a:moveTo>
                  <a:lnTo>
                    <a:pt x="1016958" y="0"/>
                  </a:lnTo>
                  <a:lnTo>
                    <a:pt x="1016958" y="1955581"/>
                  </a:lnTo>
                  <a:lnTo>
                    <a:pt x="0" y="1955581"/>
                  </a:lnTo>
                  <a:close/>
                </a:path>
              </a:pathLst>
            </a:custGeom>
            <a:blipFill>
              <a:blip r:embed="rId4"/>
              <a:stretch>
                <a:fillRect l="-14179" t="0" r="-14179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7340" y="3608344"/>
            <a:ext cx="13658988" cy="2441234"/>
            <a:chOff x="0" y="0"/>
            <a:chExt cx="3176449" cy="5677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6449" cy="567718"/>
            </a:xfrm>
            <a:custGeom>
              <a:avLst/>
              <a:gdLst/>
              <a:ahLst/>
              <a:cxnLst/>
              <a:rect r="r" b="b" t="t" l="l"/>
              <a:pathLst>
                <a:path h="567718" w="3176449">
                  <a:moveTo>
                    <a:pt x="0" y="0"/>
                  </a:moveTo>
                  <a:lnTo>
                    <a:pt x="3176449" y="0"/>
                  </a:lnTo>
                  <a:lnTo>
                    <a:pt x="3176449" y="567718"/>
                  </a:lnTo>
                  <a:lnTo>
                    <a:pt x="0" y="56771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76449" cy="605818"/>
            </a:xfrm>
            <a:prstGeom prst="rect">
              <a:avLst/>
            </a:prstGeom>
          </p:spPr>
          <p:txBody>
            <a:bodyPr anchor="ctr" rtlCol="false" tIns="57533" lIns="57533" bIns="57533" rIns="57533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206933">
            <a:off x="-4984565" y="1515579"/>
            <a:ext cx="11239071" cy="9067998"/>
          </a:xfrm>
          <a:custGeom>
            <a:avLst/>
            <a:gdLst/>
            <a:ahLst/>
            <a:cxnLst/>
            <a:rect r="r" b="b" t="t" l="l"/>
            <a:pathLst>
              <a:path h="9067998" w="11239071">
                <a:moveTo>
                  <a:pt x="0" y="0"/>
                </a:moveTo>
                <a:lnTo>
                  <a:pt x="11239072" y="0"/>
                </a:lnTo>
                <a:lnTo>
                  <a:pt x="11239072" y="9067998"/>
                </a:lnTo>
                <a:lnTo>
                  <a:pt x="0" y="9067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95773" y="4206287"/>
            <a:ext cx="13294274" cy="142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8"/>
              </a:lnSpc>
            </a:pPr>
            <a:r>
              <a:rPr lang="en-US" b="true" sz="5338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EVALUEZ LES PERFORMANCES D’UN LLM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84414" y="7274961"/>
            <a:ext cx="594781" cy="574322"/>
            <a:chOff x="0" y="0"/>
            <a:chExt cx="793041" cy="76576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IV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466538" y="11976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ÉTAPES DE PRÉSENTATION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27023" y="3518229"/>
            <a:ext cx="8745616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REPO 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27023" y="4568802"/>
            <a:ext cx="9432129" cy="86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DU FONCTIONNEMENT AVANT ET APRÈS ENRICHISSEMENT AVEC LA BASE DE DONNÉES SQL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455939" y="2315902"/>
            <a:ext cx="8743649" cy="492398"/>
            <a:chOff x="0" y="0"/>
            <a:chExt cx="11658198" cy="656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9729230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INTRODUCTION 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938104" y="-41548"/>
              <a:ext cx="7720094" cy="698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Contexte de la mission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527023" y="6057524"/>
            <a:ext cx="6972464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 DES ÉTAPES AVEC PYDANTIC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84414" y="6005313"/>
            <a:ext cx="594781" cy="574322"/>
            <a:chOff x="0" y="0"/>
            <a:chExt cx="793041" cy="76576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684414" y="4735666"/>
            <a:ext cx="594781" cy="574322"/>
            <a:chOff x="0" y="0"/>
            <a:chExt cx="793041" cy="76576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84414" y="3466019"/>
            <a:ext cx="594781" cy="574322"/>
            <a:chOff x="0" y="0"/>
            <a:chExt cx="793041" cy="765763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527023" y="7280869"/>
            <a:ext cx="10028023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DES RÉSULTATS RAGAS ET INTERPRÉTATIONS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5204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17918" cy="2459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34206" y="1424967"/>
            <a:ext cx="681958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b="true" sz="350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INTRODUCTION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3595" y="3559746"/>
            <a:ext cx="229791" cy="5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2"/>
              </a:lnSpc>
            </a:pPr>
            <a:r>
              <a:rPr lang="en-US" sz="3101">
                <a:solidFill>
                  <a:srgbClr val="FFFFF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934702">
            <a:off x="-725252" y="-250483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8" y="0"/>
                </a:lnTo>
                <a:lnTo>
                  <a:pt x="5211798" y="3621356"/>
                </a:lnTo>
                <a:lnTo>
                  <a:pt x="0" y="3621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8686839">
            <a:off x="14105523" y="6796489"/>
            <a:ext cx="5211797" cy="3621355"/>
          </a:xfrm>
          <a:custGeom>
            <a:avLst/>
            <a:gdLst/>
            <a:ahLst/>
            <a:cxnLst/>
            <a:rect r="r" b="b" t="t" l="l"/>
            <a:pathLst>
              <a:path h="3621355" w="5211797">
                <a:moveTo>
                  <a:pt x="0" y="0"/>
                </a:moveTo>
                <a:lnTo>
                  <a:pt x="5211797" y="0"/>
                </a:lnTo>
                <a:lnTo>
                  <a:pt x="5211797" y="3621355"/>
                </a:lnTo>
                <a:lnTo>
                  <a:pt x="0" y="3621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5998" y="3635946"/>
            <a:ext cx="10996004" cy="206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 projet vise à enrichir un LLM déjà fonctionnel afin de lui permettre de répondre de façon précise et fidèle à des questions liées au baketball, tout en, garantissant la vilidation et traçabilité de chaque étape avec Pydantic.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706369" y="1577379"/>
            <a:ext cx="594781" cy="574322"/>
            <a:chOff x="0" y="0"/>
            <a:chExt cx="793041" cy="76576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599905" y="1595299"/>
            <a:ext cx="526567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DU REPO GIT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49524" y="4581005"/>
            <a:ext cx="6604695" cy="45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 présentation </a:t>
            </a:r>
            <a:r>
              <a:rPr lang="en-US" sz="2643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est faite en direct sur GitHub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51714" y="1302867"/>
            <a:ext cx="10518550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DÉMONSTRATION DU FONCTIONNEMENT AVANT ET APRÈS ENRICHISSEMENT SQL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243055" y="1360017"/>
            <a:ext cx="594781" cy="574322"/>
            <a:chOff x="0" y="0"/>
            <a:chExt cx="793041" cy="765763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32579" y="4330291"/>
            <a:ext cx="7875780" cy="45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La démonstration est faite en direct sur Streamlit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96767" y="847652"/>
            <a:ext cx="594781" cy="574322"/>
            <a:chOff x="0" y="0"/>
            <a:chExt cx="793041" cy="76576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III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551168" y="2512958"/>
            <a:ext cx="8125358" cy="7066414"/>
          </a:xfrm>
          <a:custGeom>
            <a:avLst/>
            <a:gdLst/>
            <a:ahLst/>
            <a:cxnLst/>
            <a:rect r="r" b="b" t="t" l="l"/>
            <a:pathLst>
              <a:path h="7066414" w="8125358">
                <a:moveTo>
                  <a:pt x="0" y="0"/>
                </a:moveTo>
                <a:lnTo>
                  <a:pt x="8125358" y="0"/>
                </a:lnTo>
                <a:lnTo>
                  <a:pt x="8125358" y="7066414"/>
                </a:lnTo>
                <a:lnTo>
                  <a:pt x="0" y="7066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0542" y="865573"/>
            <a:ext cx="10825863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 DES ÉTAPES AVEC PYDANTIC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96767" y="1505848"/>
            <a:ext cx="9777010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Pydantic sert à valider, nettoyer et structurer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les 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données avant qu’elles ne soient utilisées d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ans l’ 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application. Il vérifie automatiquement que chaque 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mp respecte le bon type, les contraintes, et la cohére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vertit proprement les valeurs (ex : "42" → 42).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DF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8253" y="545788"/>
            <a:ext cx="14496158" cy="9195423"/>
            <a:chOff x="0" y="0"/>
            <a:chExt cx="3817918" cy="2421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7918" cy="2421840"/>
            </a:xfrm>
            <a:custGeom>
              <a:avLst/>
              <a:gdLst/>
              <a:ahLst/>
              <a:cxnLst/>
              <a:rect r="r" b="b" t="t" l="l"/>
              <a:pathLst>
                <a:path h="2421840" w="3817918">
                  <a:moveTo>
                    <a:pt x="0" y="0"/>
                  </a:moveTo>
                  <a:lnTo>
                    <a:pt x="3817918" y="0"/>
                  </a:lnTo>
                  <a:lnTo>
                    <a:pt x="3817918" y="2421840"/>
                  </a:lnTo>
                  <a:lnTo>
                    <a:pt x="0" y="24218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817918" cy="2469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48611" y="1421974"/>
            <a:ext cx="594781" cy="574322"/>
            <a:chOff x="0" y="0"/>
            <a:chExt cx="793041" cy="76576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793041" cy="765763"/>
              <a:chOff x="0" y="0"/>
              <a:chExt cx="900098" cy="86913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00098" cy="869138"/>
              </a:xfrm>
              <a:custGeom>
                <a:avLst/>
                <a:gdLst/>
                <a:ahLst/>
                <a:cxnLst/>
                <a:rect r="r" b="b" t="t" l="l"/>
                <a:pathLst>
                  <a:path h="869138" w="900098">
                    <a:moveTo>
                      <a:pt x="450049" y="0"/>
                    </a:moveTo>
                    <a:cubicBezTo>
                      <a:pt x="201494" y="0"/>
                      <a:pt x="0" y="194563"/>
                      <a:pt x="0" y="434569"/>
                    </a:cubicBezTo>
                    <a:cubicBezTo>
                      <a:pt x="0" y="674575"/>
                      <a:pt x="201494" y="869138"/>
                      <a:pt x="450049" y="869138"/>
                    </a:cubicBezTo>
                    <a:cubicBezTo>
                      <a:pt x="698604" y="869138"/>
                      <a:pt x="900098" y="674575"/>
                      <a:pt x="900098" y="434569"/>
                    </a:cubicBezTo>
                    <a:cubicBezTo>
                      <a:pt x="900098" y="194563"/>
                      <a:pt x="698604" y="0"/>
                      <a:pt x="4500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84384" y="-13768"/>
                <a:ext cx="731330" cy="8014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197839" y="-54"/>
              <a:ext cx="397364" cy="589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1"/>
                </a:lnSpc>
              </a:pPr>
              <a:r>
                <a:rPr lang="en-US" sz="264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IV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997694" y="4499955"/>
            <a:ext cx="6605173" cy="3345927"/>
          </a:xfrm>
          <a:custGeom>
            <a:avLst/>
            <a:gdLst/>
            <a:ahLst/>
            <a:cxnLst/>
            <a:rect r="r" b="b" t="t" l="l"/>
            <a:pathLst>
              <a:path h="3345927" w="6605173">
                <a:moveTo>
                  <a:pt x="0" y="0"/>
                </a:moveTo>
                <a:lnTo>
                  <a:pt x="6605173" y="0"/>
                </a:lnTo>
                <a:lnTo>
                  <a:pt x="6605173" y="3345928"/>
                </a:lnTo>
                <a:lnTo>
                  <a:pt x="0" y="334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43882" y="4499955"/>
            <a:ext cx="6744685" cy="3345927"/>
          </a:xfrm>
          <a:custGeom>
            <a:avLst/>
            <a:gdLst/>
            <a:ahLst/>
            <a:cxnLst/>
            <a:rect r="r" b="b" t="t" l="l"/>
            <a:pathLst>
              <a:path h="3345927" w="6744685">
                <a:moveTo>
                  <a:pt x="0" y="0"/>
                </a:moveTo>
                <a:lnTo>
                  <a:pt x="6744685" y="0"/>
                </a:lnTo>
                <a:lnTo>
                  <a:pt x="6744685" y="3345928"/>
                </a:lnTo>
                <a:lnTo>
                  <a:pt x="0" y="3345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781834" y="5316742"/>
            <a:ext cx="2022319" cy="2093739"/>
            <a:chOff x="0" y="0"/>
            <a:chExt cx="1021610" cy="1057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610" cy="1057689"/>
            </a:xfrm>
            <a:custGeom>
              <a:avLst/>
              <a:gdLst/>
              <a:ahLst/>
              <a:cxnLst/>
              <a:rect r="r" b="b" t="t" l="l"/>
              <a:pathLst>
                <a:path h="1057689" w="1021610">
                  <a:moveTo>
                    <a:pt x="510805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1057689"/>
                  </a:lnTo>
                  <a:lnTo>
                    <a:pt x="818410" y="1057689"/>
                  </a:lnTo>
                  <a:lnTo>
                    <a:pt x="818410" y="406400"/>
                  </a:lnTo>
                  <a:lnTo>
                    <a:pt x="1021610" y="406400"/>
                  </a:lnTo>
                  <a:lnTo>
                    <a:pt x="510805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73025"/>
              <a:ext cx="615210" cy="9846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Croissance générale dess métriques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120347" y="4881340"/>
            <a:ext cx="3013860" cy="2964542"/>
          </a:xfrm>
          <a:custGeom>
            <a:avLst/>
            <a:gdLst/>
            <a:ahLst/>
            <a:cxnLst/>
            <a:rect r="r" b="b" t="t" l="l"/>
            <a:pathLst>
              <a:path h="2964542" w="3013860">
                <a:moveTo>
                  <a:pt x="0" y="0"/>
                </a:moveTo>
                <a:lnTo>
                  <a:pt x="3013860" y="0"/>
                </a:lnTo>
                <a:lnTo>
                  <a:pt x="3013860" y="2964543"/>
                </a:lnTo>
                <a:lnTo>
                  <a:pt x="0" y="2964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91221" y="1460074"/>
            <a:ext cx="10825863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PRÉSENTATION DES RÉSULTATS RAGAS ET INTERPRÉTATIONS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0298" y="2279433"/>
            <a:ext cx="12348270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Métriques évaluées avec le framework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RAGAS: </a:t>
            </a: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faithfulness,    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est elle fidèle au contexte ?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answer_relevancy,   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 La réponse générée  est elle pertinente à la question ?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Context_recall,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# Le système a récupéré toutes les informations nécessaires pour répondre ?</a:t>
            </a:r>
          </a:p>
          <a:p>
            <a:pPr algn="just" marL="453387" indent="-226693" lvl="1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Context_precision,</a:t>
            </a: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# les documents récupérés sont réellement utiles pour répondre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911263" y="4219178"/>
            <a:ext cx="8465475" cy="1848644"/>
            <a:chOff x="0" y="0"/>
            <a:chExt cx="11287299" cy="246485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1287299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u="none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Thank you!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19487"/>
              <a:ext cx="11287299" cy="6453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DAG7BlAfEgE</dc:identifier>
  <dcterms:modified xsi:type="dcterms:W3CDTF">2011-08-01T06:04:30Z</dcterms:modified>
  <cp:revision>1</cp:revision>
  <dc:title>Copy of Copy of Copy of Copy of Fonkou_Symphor_3_présentation_052025</dc:title>
</cp:coreProperties>
</file>